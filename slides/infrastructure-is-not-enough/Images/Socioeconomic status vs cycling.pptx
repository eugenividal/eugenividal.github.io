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</a:t>
            </a:r>
            <a:r>
              <a:rPr b="0" lang="en-GB" sz="4400" spc="-1" strike="noStrike">
                <a:latin typeface="Arial"/>
              </a:rPr>
              <a:t>the title text </a:t>
            </a:r>
            <a:r>
              <a:rPr b="0" lang="en-GB" sz="4400" spc="-1" strike="noStrike">
                <a:latin typeface="Arial"/>
              </a:rPr>
              <a:t>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 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2"/>
          <p:cNvSpPr/>
          <p:nvPr/>
        </p:nvSpPr>
        <p:spPr>
          <a:xfrm>
            <a:off x="4752000" y="360000"/>
            <a:ext cx="3524040" cy="995760"/>
          </a:xfrm>
          <a:prstGeom prst="rect">
            <a:avLst/>
          </a:prstGeom>
          <a:noFill/>
          <a:ln w="648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157" name="TextShape 3"/>
          <p:cNvSpPr txBox="1"/>
          <p:nvPr/>
        </p:nvSpPr>
        <p:spPr>
          <a:xfrm>
            <a:off x="3204000" y="93600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GB" sz="1800" spc="-1" strike="noStrike">
                <a:latin typeface="Arial"/>
              </a:rPr>
              <a:t>Cycling use</a:t>
            </a:r>
            <a:endParaRPr b="1" lang="en-GB" sz="1800" spc="-1" strike="noStrike">
              <a:latin typeface="Arial"/>
            </a:endParaRPr>
          </a:p>
        </p:txBody>
      </p:sp>
      <p:sp>
        <p:nvSpPr>
          <p:cNvPr id="158" name="TextShape 4"/>
          <p:cNvSpPr txBox="1"/>
          <p:nvPr/>
        </p:nvSpPr>
        <p:spPr>
          <a:xfrm>
            <a:off x="1764000" y="170568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latin typeface="Arial"/>
              </a:rPr>
              <a:t>Leisure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9" name="TextShape 5"/>
          <p:cNvSpPr txBox="1"/>
          <p:nvPr/>
        </p:nvSpPr>
        <p:spPr>
          <a:xfrm>
            <a:off x="5184000" y="169200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latin typeface="Arial"/>
              </a:rPr>
              <a:t>Utility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0" name="TextShape 6"/>
          <p:cNvSpPr txBox="1"/>
          <p:nvPr/>
        </p:nvSpPr>
        <p:spPr>
          <a:xfrm>
            <a:off x="1584000" y="241200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solidFill>
                  <a:srgbClr val="f58220"/>
                </a:solidFill>
                <a:latin typeface="Arial"/>
              </a:rPr>
              <a:t>Non-disad.</a:t>
            </a:r>
            <a:endParaRPr b="0" lang="en-GB" sz="1800" spc="-1" strike="noStrike">
              <a:solidFill>
                <a:srgbClr val="f58220"/>
              </a:solidFill>
              <a:latin typeface="Arial"/>
            </a:endParaRPr>
          </a:p>
        </p:txBody>
      </p:sp>
      <p:sp>
        <p:nvSpPr>
          <p:cNvPr id="161" name="TextShape 7"/>
          <p:cNvSpPr txBox="1"/>
          <p:nvPr/>
        </p:nvSpPr>
        <p:spPr>
          <a:xfrm>
            <a:off x="6408000" y="241200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latin typeface="Arial"/>
              </a:rPr>
              <a:t>Developed countries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2" name="TextShape 8"/>
          <p:cNvSpPr txBox="1"/>
          <p:nvPr/>
        </p:nvSpPr>
        <p:spPr>
          <a:xfrm>
            <a:off x="2988000" y="241200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latin typeface="Arial"/>
              </a:rPr>
              <a:t>D</a:t>
            </a:r>
            <a:r>
              <a:rPr b="0" lang="en-GB" sz="1800" spc="-1" strike="noStrike">
                <a:latin typeface="Arial"/>
              </a:rPr>
              <a:t>e</a:t>
            </a:r>
            <a:r>
              <a:rPr b="0" lang="en-GB" sz="1800" spc="-1" strike="noStrike">
                <a:latin typeface="Arial"/>
              </a:rPr>
              <a:t>v</a:t>
            </a:r>
            <a:r>
              <a:rPr b="0" lang="en-GB" sz="1800" spc="-1" strike="noStrike">
                <a:latin typeface="Arial"/>
              </a:rPr>
              <a:t>e</a:t>
            </a:r>
            <a:r>
              <a:rPr b="0" lang="en-GB" sz="1800" spc="-1" strike="noStrike">
                <a:latin typeface="Arial"/>
              </a:rPr>
              <a:t>l</a:t>
            </a:r>
            <a:r>
              <a:rPr b="0" lang="en-GB" sz="1800" spc="-1" strike="noStrike">
                <a:latin typeface="Arial"/>
              </a:rPr>
              <a:t>o</a:t>
            </a:r>
            <a:r>
              <a:rPr b="0" lang="en-GB" sz="1800" spc="-1" strike="noStrike">
                <a:latin typeface="Arial"/>
              </a:rPr>
              <a:t>p</a:t>
            </a:r>
            <a:r>
              <a:rPr b="0" lang="en-GB" sz="1800" spc="-1" strike="noStrike">
                <a:latin typeface="Arial"/>
              </a:rPr>
              <a:t>i</a:t>
            </a:r>
            <a:r>
              <a:rPr b="0" lang="en-GB" sz="1800" spc="-1" strike="noStrike">
                <a:latin typeface="Arial"/>
              </a:rPr>
              <a:t>n</a:t>
            </a:r>
            <a:r>
              <a:rPr b="0" lang="en-GB" sz="1800" spc="-1" strike="noStrike">
                <a:latin typeface="Arial"/>
              </a:rPr>
              <a:t>g</a:t>
            </a:r>
            <a:r>
              <a:rPr b="0" lang="en-GB" sz="1800" spc="-1" strike="noStrike">
                <a:latin typeface="Arial"/>
              </a:rPr>
              <a:t> </a:t>
            </a:r>
            <a:r>
              <a:rPr b="0" lang="en-GB" sz="1800" spc="-1" strike="noStrike">
                <a:latin typeface="Arial"/>
              </a:rPr>
              <a:t>c</a:t>
            </a:r>
            <a:r>
              <a:rPr b="0" lang="en-GB" sz="1800" spc="-1" strike="noStrike">
                <a:latin typeface="Arial"/>
              </a:rPr>
              <a:t>o</a:t>
            </a:r>
            <a:r>
              <a:rPr b="0" lang="en-GB" sz="1800" spc="-1" strike="noStrike">
                <a:latin typeface="Arial"/>
              </a:rPr>
              <a:t>u</a:t>
            </a:r>
            <a:r>
              <a:rPr b="0" lang="en-GB" sz="1800" spc="-1" strike="noStrike">
                <a:latin typeface="Arial"/>
              </a:rPr>
              <a:t>n</a:t>
            </a:r>
            <a:r>
              <a:rPr b="0" lang="en-GB" sz="1800" spc="-1" strike="noStrike">
                <a:latin typeface="Arial"/>
              </a:rPr>
              <a:t>t</a:t>
            </a:r>
            <a:r>
              <a:rPr b="0" lang="en-GB" sz="1800" spc="-1" strike="noStrike">
                <a:latin typeface="Arial"/>
              </a:rPr>
              <a:t>r</a:t>
            </a:r>
            <a:r>
              <a:rPr b="0" lang="en-GB" sz="1800" spc="-1" strike="noStrike">
                <a:latin typeface="Arial"/>
              </a:rPr>
              <a:t>i</a:t>
            </a:r>
            <a:r>
              <a:rPr b="0" lang="en-GB" sz="1800" spc="-1" strike="noStrike">
                <a:latin typeface="Arial"/>
              </a:rPr>
              <a:t>e</a:t>
            </a:r>
            <a:r>
              <a:rPr b="0" lang="en-GB" sz="1800" spc="-1" strike="noStrike">
                <a:latin typeface="Arial"/>
              </a:rPr>
              <a:t>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3" name="TextShape 9"/>
          <p:cNvSpPr txBox="1"/>
          <p:nvPr/>
        </p:nvSpPr>
        <p:spPr>
          <a:xfrm>
            <a:off x="4536000" y="314568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latin typeface="Arial"/>
              </a:rPr>
              <a:t>Cycling is common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4" name="TextShape 10"/>
          <p:cNvSpPr txBox="1"/>
          <p:nvPr/>
        </p:nvSpPr>
        <p:spPr>
          <a:xfrm>
            <a:off x="8100000" y="3168000"/>
            <a:ext cx="1800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latin typeface="Arial"/>
              </a:rPr>
              <a:t>Cycling is rare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5" name="Line 11"/>
          <p:cNvSpPr/>
          <p:nvPr/>
        </p:nvSpPr>
        <p:spPr>
          <a:xfrm>
            <a:off x="3888000" y="2250720"/>
            <a:ext cx="3384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Shape 12"/>
          <p:cNvSpPr txBox="1"/>
          <p:nvPr/>
        </p:nvSpPr>
        <p:spPr>
          <a:xfrm>
            <a:off x="3312000" y="3159360"/>
            <a:ext cx="111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D</a:t>
            </a:r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i</a:t>
            </a:r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s</a:t>
            </a:r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a</a:t>
            </a:r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d</a:t>
            </a:r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.</a:t>
            </a:r>
            <a:endParaRPr b="0" lang="en-GB" sz="1800" spc="-1" strike="noStrike">
              <a:solidFill>
                <a:srgbClr val="0066b3"/>
              </a:solidFill>
              <a:latin typeface="Arial"/>
            </a:endParaRPr>
          </a:p>
        </p:txBody>
      </p:sp>
      <p:sp>
        <p:nvSpPr>
          <p:cNvPr id="167" name="Line 13"/>
          <p:cNvSpPr/>
          <p:nvPr/>
        </p:nvSpPr>
        <p:spPr>
          <a:xfrm>
            <a:off x="2196000" y="2088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Line 14"/>
          <p:cNvSpPr/>
          <p:nvPr/>
        </p:nvSpPr>
        <p:spPr>
          <a:xfrm>
            <a:off x="3888000" y="225072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15"/>
          <p:cNvSpPr/>
          <p:nvPr/>
        </p:nvSpPr>
        <p:spPr>
          <a:xfrm>
            <a:off x="5580000" y="2088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16"/>
          <p:cNvSpPr/>
          <p:nvPr/>
        </p:nvSpPr>
        <p:spPr>
          <a:xfrm>
            <a:off x="7263360" y="226224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17"/>
          <p:cNvSpPr/>
          <p:nvPr/>
        </p:nvSpPr>
        <p:spPr>
          <a:xfrm>
            <a:off x="5544000" y="2970720"/>
            <a:ext cx="3384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18"/>
          <p:cNvSpPr/>
          <p:nvPr/>
        </p:nvSpPr>
        <p:spPr>
          <a:xfrm>
            <a:off x="5544000" y="297072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Line 19"/>
          <p:cNvSpPr/>
          <p:nvPr/>
        </p:nvSpPr>
        <p:spPr>
          <a:xfrm>
            <a:off x="7236000" y="2808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Line 20"/>
          <p:cNvSpPr/>
          <p:nvPr/>
        </p:nvSpPr>
        <p:spPr>
          <a:xfrm>
            <a:off x="8919360" y="298224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21"/>
          <p:cNvSpPr/>
          <p:nvPr/>
        </p:nvSpPr>
        <p:spPr>
          <a:xfrm>
            <a:off x="2232000" y="1494720"/>
            <a:ext cx="3384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Line 22"/>
          <p:cNvSpPr/>
          <p:nvPr/>
        </p:nvSpPr>
        <p:spPr>
          <a:xfrm>
            <a:off x="2232000" y="149472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Line 23"/>
          <p:cNvSpPr/>
          <p:nvPr/>
        </p:nvSpPr>
        <p:spPr>
          <a:xfrm>
            <a:off x="3924000" y="1332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Line 24"/>
          <p:cNvSpPr/>
          <p:nvPr/>
        </p:nvSpPr>
        <p:spPr>
          <a:xfrm>
            <a:off x="5607360" y="150624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Line 25"/>
          <p:cNvSpPr/>
          <p:nvPr/>
        </p:nvSpPr>
        <p:spPr>
          <a:xfrm>
            <a:off x="3888000" y="2844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Line 26"/>
          <p:cNvSpPr/>
          <p:nvPr/>
        </p:nvSpPr>
        <p:spPr>
          <a:xfrm>
            <a:off x="5544000" y="3708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Shape 27"/>
          <p:cNvSpPr txBox="1"/>
          <p:nvPr/>
        </p:nvSpPr>
        <p:spPr>
          <a:xfrm>
            <a:off x="4968000" y="397368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solidFill>
                  <a:srgbClr val="666666"/>
                </a:solidFill>
                <a:latin typeface="Arial"/>
              </a:rPr>
              <a:t>No dif.</a:t>
            </a:r>
            <a:endParaRPr b="0" lang="en-GB" sz="18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82" name="Line 28"/>
          <p:cNvSpPr/>
          <p:nvPr/>
        </p:nvSpPr>
        <p:spPr>
          <a:xfrm>
            <a:off x="7236000" y="3726720"/>
            <a:ext cx="3384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Line 29"/>
          <p:cNvSpPr/>
          <p:nvPr/>
        </p:nvSpPr>
        <p:spPr>
          <a:xfrm>
            <a:off x="7236000" y="372672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Line 30"/>
          <p:cNvSpPr/>
          <p:nvPr/>
        </p:nvSpPr>
        <p:spPr>
          <a:xfrm>
            <a:off x="8928000" y="356400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Line 31"/>
          <p:cNvSpPr/>
          <p:nvPr/>
        </p:nvSpPr>
        <p:spPr>
          <a:xfrm>
            <a:off x="10611360" y="3738240"/>
            <a:ext cx="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Shape 32"/>
          <p:cNvSpPr txBox="1"/>
          <p:nvPr/>
        </p:nvSpPr>
        <p:spPr>
          <a:xfrm>
            <a:off x="6660000" y="397368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solidFill>
                  <a:srgbClr val="0066b3"/>
                </a:solidFill>
                <a:latin typeface="Arial"/>
              </a:rPr>
              <a:t>Disad.</a:t>
            </a:r>
            <a:endParaRPr b="0" lang="en-GB" sz="1800" spc="-1" strike="noStrike">
              <a:solidFill>
                <a:srgbClr val="0066b3"/>
              </a:solidFill>
              <a:latin typeface="Arial"/>
            </a:endParaRPr>
          </a:p>
        </p:txBody>
      </p:sp>
      <p:sp>
        <p:nvSpPr>
          <p:cNvPr id="187" name="TextShape 33"/>
          <p:cNvSpPr txBox="1"/>
          <p:nvPr/>
        </p:nvSpPr>
        <p:spPr>
          <a:xfrm>
            <a:off x="8352000" y="397368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solidFill>
                  <a:srgbClr val="f58220"/>
                </a:solidFill>
                <a:latin typeface="Arial"/>
              </a:rPr>
              <a:t>Non-disad.</a:t>
            </a:r>
            <a:endParaRPr b="0" lang="en-GB" sz="1800" spc="-1" strike="noStrike">
              <a:solidFill>
                <a:srgbClr val="f58220"/>
              </a:solidFill>
              <a:latin typeface="Arial"/>
            </a:endParaRPr>
          </a:p>
        </p:txBody>
      </p:sp>
      <p:sp>
        <p:nvSpPr>
          <p:cNvPr id="188" name="TextShape 34"/>
          <p:cNvSpPr txBox="1"/>
          <p:nvPr/>
        </p:nvSpPr>
        <p:spPr>
          <a:xfrm>
            <a:off x="10332000" y="4009680"/>
            <a:ext cx="30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GB" sz="1800" spc="-1" strike="noStrike">
                <a:solidFill>
                  <a:srgbClr val="666666"/>
                </a:solidFill>
                <a:latin typeface="Arial"/>
              </a:rPr>
              <a:t>No dif.</a:t>
            </a:r>
            <a:endParaRPr b="0" lang="en-GB" sz="18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523880" y="1122480"/>
            <a:ext cx="9140040" cy="23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2"/>
          <p:cNvSpPr/>
          <p:nvPr/>
        </p:nvSpPr>
        <p:spPr>
          <a:xfrm>
            <a:off x="609480" y="160452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3"/>
          <p:cNvSpPr/>
          <p:nvPr/>
        </p:nvSpPr>
        <p:spPr>
          <a:xfrm>
            <a:off x="4319640" y="160452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4"/>
          <p:cNvSpPr/>
          <p:nvPr/>
        </p:nvSpPr>
        <p:spPr>
          <a:xfrm>
            <a:off x="8029800" y="160452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ustomShape 5"/>
          <p:cNvSpPr/>
          <p:nvPr/>
        </p:nvSpPr>
        <p:spPr>
          <a:xfrm>
            <a:off x="609480" y="368208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CustomShape 6"/>
          <p:cNvSpPr/>
          <p:nvPr/>
        </p:nvSpPr>
        <p:spPr>
          <a:xfrm>
            <a:off x="4319640" y="368208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7"/>
          <p:cNvSpPr/>
          <p:nvPr/>
        </p:nvSpPr>
        <p:spPr>
          <a:xfrm>
            <a:off x="8029800" y="368208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1523880" y="1122480"/>
            <a:ext cx="9140040" cy="23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2"/>
          <p:cNvSpPr/>
          <p:nvPr/>
        </p:nvSpPr>
        <p:spPr>
          <a:xfrm>
            <a:off x="609480" y="160452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3"/>
          <p:cNvSpPr/>
          <p:nvPr/>
        </p:nvSpPr>
        <p:spPr>
          <a:xfrm>
            <a:off x="2419560" y="160452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4"/>
          <p:cNvSpPr/>
          <p:nvPr/>
        </p:nvSpPr>
        <p:spPr>
          <a:xfrm>
            <a:off x="609480" y="259524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5"/>
          <p:cNvSpPr/>
          <p:nvPr/>
        </p:nvSpPr>
        <p:spPr>
          <a:xfrm>
            <a:off x="2419560" y="259524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1523880" y="1122480"/>
            <a:ext cx="9140040" cy="23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2"/>
          <p:cNvSpPr/>
          <p:nvPr/>
        </p:nvSpPr>
        <p:spPr>
          <a:xfrm>
            <a:off x="609480" y="160452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CustomShape 3"/>
          <p:cNvSpPr/>
          <p:nvPr/>
        </p:nvSpPr>
        <p:spPr>
          <a:xfrm>
            <a:off x="1803960" y="160452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CustomShape 4"/>
          <p:cNvSpPr/>
          <p:nvPr/>
        </p:nvSpPr>
        <p:spPr>
          <a:xfrm>
            <a:off x="2998440" y="160452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CustomShape 5"/>
          <p:cNvSpPr/>
          <p:nvPr/>
        </p:nvSpPr>
        <p:spPr>
          <a:xfrm>
            <a:off x="609480" y="259524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CustomShape 6"/>
          <p:cNvSpPr/>
          <p:nvPr/>
        </p:nvSpPr>
        <p:spPr>
          <a:xfrm>
            <a:off x="1803960" y="259524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CustomShape 7"/>
          <p:cNvSpPr/>
          <p:nvPr/>
        </p:nvSpPr>
        <p:spPr>
          <a:xfrm>
            <a:off x="2998440" y="259524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2020-01-18T13:55:23Z</dcterms:modified>
  <cp:revision>23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