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850400" y="4145040"/>
            <a:ext cx="3165840" cy="215748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Individuals (n = 167,178)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Gender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Age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Ethnicity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Education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Occupation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Urban/Rural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Residence level of deprivation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1850400" y="1985040"/>
            <a:ext cx="3165840" cy="172548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IMD LA areas (n = 2,931)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Cycle tracks (off-road)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Cycle lanes (on-road)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Quietness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Density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Hilliness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 rot="47400">
            <a:off x="6077880" y="1439280"/>
            <a:ext cx="4452840" cy="2922120"/>
          </a:xfrm>
          <a:prstGeom prst="ellipse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Cycling participation</a:t>
            </a:r>
            <a:r>
              <a:rPr b="0" i="1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b="0" lang="en-GB" sz="1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Any (total) cycling in the last 4 weeks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Any leisure cycling in the last 4 weeks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Any utility cycling in the last 4 weeks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Cycling duration: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Weekly minutes cycling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Weekly minutes leisure cycling</a:t>
            </a:r>
            <a:endParaRPr b="0" lang="en-GB" sz="1400" spc="-1" strike="noStrike">
              <a:latin typeface="Arial"/>
            </a:endParaRPr>
          </a:p>
          <a:p>
            <a:pPr marL="285840" indent="-28116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Weekly minutes utility cycling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 rot="17604600">
            <a:off x="4461480" y="4271760"/>
            <a:ext cx="2115000" cy="177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59" name="CustomShape 5"/>
          <p:cNvSpPr/>
          <p:nvPr/>
        </p:nvSpPr>
        <p:spPr>
          <a:xfrm>
            <a:off x="5018400" y="1049040"/>
            <a:ext cx="1004760" cy="114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0" name="Line 6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7"/>
          <p:cNvSpPr/>
          <p:nvPr/>
        </p:nvSpPr>
        <p:spPr>
          <a:xfrm>
            <a:off x="1850040" y="554760"/>
            <a:ext cx="3166200" cy="995040"/>
          </a:xfrm>
          <a:prstGeom prst="rect">
            <a:avLst/>
          </a:prstGeom>
          <a:ln w="6480">
            <a:rou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1400" spc="-1" strike="noStrike">
                <a:solidFill>
                  <a:srgbClr val="000000"/>
                </a:solidFill>
                <a:latin typeface="Calibri"/>
                <a:ea typeface="DejaVu Sans"/>
              </a:rPr>
              <a:t>Local Authorities (n = 326)</a:t>
            </a: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400" spc="-1" strike="noStrike">
              <a:latin typeface="Arial"/>
            </a:endParaRPr>
          </a:p>
        </p:txBody>
      </p:sp>
      <p:sp>
        <p:nvSpPr>
          <p:cNvPr id="162" name="CustomShape 8"/>
          <p:cNvSpPr/>
          <p:nvPr/>
        </p:nvSpPr>
        <p:spPr>
          <a:xfrm rot="17604600">
            <a:off x="5255280" y="2486160"/>
            <a:ext cx="312840" cy="724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3" name="CustomShape 9"/>
          <p:cNvSpPr/>
          <p:nvPr/>
        </p:nvSpPr>
        <p:spPr>
          <a:xfrm flipV="1" rot="16200600">
            <a:off x="3294360" y="1800720"/>
            <a:ext cx="363960" cy="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164" name="CustomShape 10"/>
          <p:cNvSpPr/>
          <p:nvPr/>
        </p:nvSpPr>
        <p:spPr>
          <a:xfrm flipV="1" rot="16200600">
            <a:off x="3294360" y="3960720"/>
            <a:ext cx="363960" cy="5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2"/>
          <p:cNvSpPr/>
          <p:nvPr/>
        </p:nvSpPr>
        <p:spPr>
          <a:xfrm>
            <a:off x="60948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3"/>
          <p:cNvSpPr/>
          <p:nvPr/>
        </p:nvSpPr>
        <p:spPr>
          <a:xfrm>
            <a:off x="431964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4"/>
          <p:cNvSpPr/>
          <p:nvPr/>
        </p:nvSpPr>
        <p:spPr>
          <a:xfrm>
            <a:off x="802980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5"/>
          <p:cNvSpPr/>
          <p:nvPr/>
        </p:nvSpPr>
        <p:spPr>
          <a:xfrm>
            <a:off x="60948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6"/>
          <p:cNvSpPr/>
          <p:nvPr/>
        </p:nvSpPr>
        <p:spPr>
          <a:xfrm>
            <a:off x="431964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7"/>
          <p:cNvSpPr/>
          <p:nvPr/>
        </p:nvSpPr>
        <p:spPr>
          <a:xfrm>
            <a:off x="802980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2"/>
          <p:cNvSpPr/>
          <p:nvPr/>
        </p:nvSpPr>
        <p:spPr>
          <a:xfrm>
            <a:off x="60948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3"/>
          <p:cNvSpPr/>
          <p:nvPr/>
        </p:nvSpPr>
        <p:spPr>
          <a:xfrm>
            <a:off x="241956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4"/>
          <p:cNvSpPr/>
          <p:nvPr/>
        </p:nvSpPr>
        <p:spPr>
          <a:xfrm>
            <a:off x="60948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241956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2"/>
          <p:cNvSpPr/>
          <p:nvPr/>
        </p:nvSpPr>
        <p:spPr>
          <a:xfrm>
            <a:off x="60948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3"/>
          <p:cNvSpPr/>
          <p:nvPr/>
        </p:nvSpPr>
        <p:spPr>
          <a:xfrm>
            <a:off x="180396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4"/>
          <p:cNvSpPr/>
          <p:nvPr/>
        </p:nvSpPr>
        <p:spPr>
          <a:xfrm>
            <a:off x="299844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5"/>
          <p:cNvSpPr/>
          <p:nvPr/>
        </p:nvSpPr>
        <p:spPr>
          <a:xfrm>
            <a:off x="60948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6"/>
          <p:cNvSpPr/>
          <p:nvPr/>
        </p:nvSpPr>
        <p:spPr>
          <a:xfrm>
            <a:off x="180396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7"/>
          <p:cNvSpPr/>
          <p:nvPr/>
        </p:nvSpPr>
        <p:spPr>
          <a:xfrm>
            <a:off x="299844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2021-02-09T15:09:26Z</dcterms:modified>
  <cp:revision>23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