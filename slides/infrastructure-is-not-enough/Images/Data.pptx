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ine 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156" name="Table 2"/>
          <p:cNvGraphicFramePr/>
          <p:nvPr/>
        </p:nvGraphicFramePr>
        <p:xfrm>
          <a:off x="4155120" y="2337840"/>
          <a:ext cx="4434840" cy="4082040"/>
        </p:xfrm>
        <a:graphic>
          <a:graphicData uri="http://schemas.openxmlformats.org/drawingml/2006/table">
            <a:tbl>
              <a:tblPr/>
              <a:tblGrid>
                <a:gridCol w="2949840"/>
                <a:gridCol w="1485360"/>
              </a:tblGrid>
              <a:tr h="291600">
                <a:tc gridSpan="2"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 u="sng">
                          <a:uFillTx/>
                          <a:latin typeface="Arial"/>
                        </a:rPr>
                        <a:t>EXPLANATORY VARIABLES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solidFill>
                      <a:srgbClr val="729fcf"/>
                    </a:solidFill>
                  </a:tcPr>
                </a:tc>
              </a:tr>
              <a:tr h="291600">
                <a:tc gridSpan="2"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400" spc="-1" strike="noStrike">
                          <a:latin typeface="Arial"/>
                        </a:rPr>
                        <a:t>Individual factors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solidFill>
                      <a:srgbClr val="729fcf"/>
                    </a:solidFill>
                  </a:tcPr>
                </a:tc>
              </a:tr>
              <a:tr h="29160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Gender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rowSpan="6"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ALS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160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Age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solidFill>
                      <a:srgbClr val="729fcf"/>
                    </a:solidFill>
                  </a:tcPr>
                </a:tc>
              </a:tr>
              <a:tr h="29160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Education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solidFill>
                      <a:srgbClr val="729fcf"/>
                    </a:solidFill>
                  </a:tcPr>
                </a:tc>
              </a:tr>
              <a:tr h="29160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Occupation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solidFill>
                      <a:srgbClr val="729fcf"/>
                    </a:solidFill>
                  </a:tcPr>
                </a:tc>
              </a:tr>
              <a:tr h="29160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Urban/Rural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solidFill>
                      <a:srgbClr val="729fcf"/>
                    </a:solidFill>
                  </a:tcPr>
                </a:tc>
              </a:tr>
              <a:tr h="29160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Residence level of deprivation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solidFill>
                      <a:srgbClr val="729fcf"/>
                    </a:solidFill>
                  </a:tcPr>
                </a:tc>
              </a:tr>
              <a:tr h="291600">
                <a:tc gridSpan="2"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en-GB" sz="1400" spc="-1" strike="noStrike">
                          <a:latin typeface="Arial"/>
                        </a:rPr>
                        <a:t>Environmental factors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solidFill>
                      <a:srgbClr val="729fcf"/>
                    </a:solidFill>
                  </a:tcPr>
                </a:tc>
              </a:tr>
              <a:tr h="29160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Cycle tracks (off-road)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OSM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160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Cycle lanes (on-road)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solidFill>
                      <a:srgbClr val="729fcf"/>
                    </a:solidFill>
                  </a:tcPr>
                </a:tc>
              </a:tr>
              <a:tr h="29160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Quietness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Cyclestreets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160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Density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ONS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160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Hilliness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PCT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7" name="CustomShape 3"/>
          <p:cNvSpPr/>
          <p:nvPr/>
        </p:nvSpPr>
        <p:spPr>
          <a:xfrm>
            <a:off x="4320000" y="4176000"/>
            <a:ext cx="502920" cy="345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graphicFrame>
        <p:nvGraphicFramePr>
          <p:cNvPr id="158" name="Table 4"/>
          <p:cNvGraphicFramePr/>
          <p:nvPr/>
        </p:nvGraphicFramePr>
        <p:xfrm>
          <a:off x="4132440" y="498960"/>
          <a:ext cx="4436280" cy="1193040"/>
        </p:xfrm>
        <a:graphic>
          <a:graphicData uri="http://schemas.openxmlformats.org/drawingml/2006/table">
            <a:tbl>
              <a:tblPr/>
              <a:tblGrid>
                <a:gridCol w="2950560"/>
                <a:gridCol w="1486080"/>
              </a:tblGrid>
              <a:tr h="300600">
                <a:tc gridSpan="2"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 u="sng">
                          <a:uFillTx/>
                          <a:latin typeface="Arial"/>
                        </a:rPr>
                        <a:t>RESPONSE VARIABLES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solidFill>
                      <a:srgbClr val="729fcf"/>
                    </a:solidFill>
                  </a:tcPr>
                </a:tc>
              </a:tr>
              <a:tr h="30060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Total cycling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endParaRPr b="0" lang="en-GB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ALS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60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Leisure cycling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solidFill>
                      <a:srgbClr val="729fcf"/>
                    </a:solidFill>
                  </a:tcPr>
                </a:tc>
              </a:tr>
              <a:tr h="291600">
                <a:tc>
                  <a:txBody>
                    <a:bodyPr lIns="90000" rIns="90000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GB" sz="1400" spc="-1" strike="noStrike">
                          <a:latin typeface="Arial"/>
                        </a:rPr>
                        <a:t>Utility cycling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cPr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159" name="CustomShape 5"/>
          <p:cNvSpPr/>
          <p:nvPr/>
        </p:nvSpPr>
        <p:spPr>
          <a:xfrm>
            <a:off x="4032000" y="360000"/>
            <a:ext cx="4463280" cy="151128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0" name="CustomShape 6"/>
          <p:cNvSpPr/>
          <p:nvPr/>
        </p:nvSpPr>
        <p:spPr>
          <a:xfrm>
            <a:off x="4032000" y="2160000"/>
            <a:ext cx="4463280" cy="439128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CustomShape 7"/>
          <p:cNvSpPr/>
          <p:nvPr/>
        </p:nvSpPr>
        <p:spPr>
          <a:xfrm>
            <a:off x="6840000" y="792000"/>
            <a:ext cx="143280" cy="863280"/>
          </a:xfrm>
          <a:custGeom>
            <a:avLst/>
            <a:gdLst/>
            <a:ahLst/>
            <a:rect l="l" t="t" r="r" b="b"/>
            <a:pathLst>
              <a:path w="402" h="2402">
                <a:moveTo>
                  <a:pt x="0" y="0"/>
                </a:moveTo>
                <a:cubicBezTo>
                  <a:pt x="100" y="0"/>
                  <a:pt x="200" y="100"/>
                  <a:pt x="200" y="200"/>
                </a:cubicBezTo>
                <a:lnTo>
                  <a:pt x="200" y="1000"/>
                </a:lnTo>
                <a:cubicBezTo>
                  <a:pt x="200" y="1100"/>
                  <a:pt x="300" y="1200"/>
                  <a:pt x="401" y="1200"/>
                </a:cubicBezTo>
                <a:cubicBezTo>
                  <a:pt x="300" y="1200"/>
                  <a:pt x="200" y="1300"/>
                  <a:pt x="200" y="1400"/>
                </a:cubicBezTo>
                <a:lnTo>
                  <a:pt x="200" y="2200"/>
                </a:lnTo>
                <a:cubicBezTo>
                  <a:pt x="200" y="2300"/>
                  <a:pt x="100" y="2401"/>
                  <a:pt x="0" y="2401"/>
                </a:cubicBezTo>
              </a:path>
            </a:pathLst>
          </a:custGeom>
          <a:noFill/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CustomShape 8"/>
          <p:cNvSpPr/>
          <p:nvPr/>
        </p:nvSpPr>
        <p:spPr>
          <a:xfrm>
            <a:off x="6840000" y="3024000"/>
            <a:ext cx="143280" cy="1655280"/>
          </a:xfrm>
          <a:custGeom>
            <a:avLst/>
            <a:gdLst/>
            <a:ahLst/>
            <a:rect l="l" t="t" r="r" b="b"/>
            <a:pathLst>
              <a:path w="402" h="4602">
                <a:moveTo>
                  <a:pt x="0" y="0"/>
                </a:moveTo>
                <a:cubicBezTo>
                  <a:pt x="100" y="0"/>
                  <a:pt x="200" y="191"/>
                  <a:pt x="200" y="383"/>
                </a:cubicBezTo>
                <a:lnTo>
                  <a:pt x="200" y="1917"/>
                </a:lnTo>
                <a:cubicBezTo>
                  <a:pt x="200" y="2108"/>
                  <a:pt x="300" y="2300"/>
                  <a:pt x="401" y="2300"/>
                </a:cubicBezTo>
                <a:cubicBezTo>
                  <a:pt x="300" y="2300"/>
                  <a:pt x="200" y="2492"/>
                  <a:pt x="200" y="2683"/>
                </a:cubicBezTo>
                <a:lnTo>
                  <a:pt x="200" y="4217"/>
                </a:lnTo>
                <a:cubicBezTo>
                  <a:pt x="200" y="4409"/>
                  <a:pt x="100" y="4601"/>
                  <a:pt x="0" y="4601"/>
                </a:cubicBezTo>
              </a:path>
            </a:pathLst>
          </a:custGeom>
          <a:noFill/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CustomShape 9"/>
          <p:cNvSpPr/>
          <p:nvPr/>
        </p:nvSpPr>
        <p:spPr>
          <a:xfrm>
            <a:off x="6840360" y="792360"/>
            <a:ext cx="143280" cy="863280"/>
          </a:xfrm>
          <a:custGeom>
            <a:avLst/>
            <a:gdLst/>
            <a:ahLst/>
            <a:rect l="l" t="t" r="r" b="b"/>
            <a:pathLst>
              <a:path w="402" h="2402">
                <a:moveTo>
                  <a:pt x="0" y="0"/>
                </a:moveTo>
                <a:cubicBezTo>
                  <a:pt x="100" y="0"/>
                  <a:pt x="200" y="100"/>
                  <a:pt x="200" y="200"/>
                </a:cubicBezTo>
                <a:lnTo>
                  <a:pt x="200" y="1000"/>
                </a:lnTo>
                <a:cubicBezTo>
                  <a:pt x="200" y="1100"/>
                  <a:pt x="300" y="1200"/>
                  <a:pt x="401" y="1200"/>
                </a:cubicBezTo>
                <a:cubicBezTo>
                  <a:pt x="300" y="1200"/>
                  <a:pt x="200" y="1300"/>
                  <a:pt x="200" y="1400"/>
                </a:cubicBezTo>
                <a:lnTo>
                  <a:pt x="200" y="2200"/>
                </a:lnTo>
                <a:cubicBezTo>
                  <a:pt x="200" y="2300"/>
                  <a:pt x="100" y="2401"/>
                  <a:pt x="0" y="2401"/>
                </a:cubicBezTo>
              </a:path>
            </a:pathLst>
          </a:custGeom>
          <a:noFill/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CustomShape 10"/>
          <p:cNvSpPr/>
          <p:nvPr/>
        </p:nvSpPr>
        <p:spPr>
          <a:xfrm>
            <a:off x="6840000" y="5040000"/>
            <a:ext cx="143280" cy="503280"/>
          </a:xfrm>
          <a:custGeom>
            <a:avLst/>
            <a:gdLst/>
            <a:ahLst/>
            <a:rect l="l" t="t" r="r" b="b"/>
            <a:pathLst>
              <a:path w="402" h="1401">
                <a:moveTo>
                  <a:pt x="0" y="0"/>
                </a:moveTo>
                <a:cubicBezTo>
                  <a:pt x="100" y="0"/>
                  <a:pt x="200" y="58"/>
                  <a:pt x="200" y="116"/>
                </a:cubicBezTo>
                <a:lnTo>
                  <a:pt x="200" y="583"/>
                </a:lnTo>
                <a:cubicBezTo>
                  <a:pt x="200" y="642"/>
                  <a:pt x="300" y="700"/>
                  <a:pt x="401" y="700"/>
                </a:cubicBezTo>
                <a:cubicBezTo>
                  <a:pt x="300" y="700"/>
                  <a:pt x="200" y="758"/>
                  <a:pt x="200" y="817"/>
                </a:cubicBezTo>
                <a:lnTo>
                  <a:pt x="200" y="1284"/>
                </a:lnTo>
                <a:cubicBezTo>
                  <a:pt x="200" y="1342"/>
                  <a:pt x="100" y="1400"/>
                  <a:pt x="0" y="1400"/>
                </a:cubicBezTo>
              </a:path>
            </a:pathLst>
          </a:custGeom>
          <a:noFill/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1523880" y="1122480"/>
            <a:ext cx="9140040" cy="238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CustomShape 2"/>
          <p:cNvSpPr/>
          <p:nvPr/>
        </p:nvSpPr>
        <p:spPr>
          <a:xfrm>
            <a:off x="609480" y="1604520"/>
            <a:ext cx="3529800" cy="189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CustomShape 3"/>
          <p:cNvSpPr/>
          <p:nvPr/>
        </p:nvSpPr>
        <p:spPr>
          <a:xfrm>
            <a:off x="4319640" y="1604520"/>
            <a:ext cx="3529800" cy="189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CustomShape 4"/>
          <p:cNvSpPr/>
          <p:nvPr/>
        </p:nvSpPr>
        <p:spPr>
          <a:xfrm>
            <a:off x="8029800" y="1604520"/>
            <a:ext cx="3529800" cy="189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5"/>
          <p:cNvSpPr/>
          <p:nvPr/>
        </p:nvSpPr>
        <p:spPr>
          <a:xfrm>
            <a:off x="609480" y="3682080"/>
            <a:ext cx="3529800" cy="189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CustomShape 6"/>
          <p:cNvSpPr/>
          <p:nvPr/>
        </p:nvSpPr>
        <p:spPr>
          <a:xfrm>
            <a:off x="4319640" y="3682080"/>
            <a:ext cx="3529800" cy="189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CustomShape 7"/>
          <p:cNvSpPr/>
          <p:nvPr/>
        </p:nvSpPr>
        <p:spPr>
          <a:xfrm>
            <a:off x="8029800" y="3682080"/>
            <a:ext cx="3529800" cy="1893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CustomShape 1"/>
          <p:cNvSpPr/>
          <p:nvPr/>
        </p:nvSpPr>
        <p:spPr>
          <a:xfrm>
            <a:off x="1523880" y="1122480"/>
            <a:ext cx="9140040" cy="238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CustomShape 2"/>
          <p:cNvSpPr/>
          <p:nvPr/>
        </p:nvSpPr>
        <p:spPr>
          <a:xfrm>
            <a:off x="609480" y="1604520"/>
            <a:ext cx="172080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CustomShape 3"/>
          <p:cNvSpPr/>
          <p:nvPr/>
        </p:nvSpPr>
        <p:spPr>
          <a:xfrm>
            <a:off x="2419560" y="1604520"/>
            <a:ext cx="172080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CustomShape 4"/>
          <p:cNvSpPr/>
          <p:nvPr/>
        </p:nvSpPr>
        <p:spPr>
          <a:xfrm>
            <a:off x="609480" y="2595240"/>
            <a:ext cx="172080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CustomShape 5"/>
          <p:cNvSpPr/>
          <p:nvPr/>
        </p:nvSpPr>
        <p:spPr>
          <a:xfrm>
            <a:off x="2419560" y="2595240"/>
            <a:ext cx="172080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ustomShape 1"/>
          <p:cNvSpPr/>
          <p:nvPr/>
        </p:nvSpPr>
        <p:spPr>
          <a:xfrm>
            <a:off x="1523880" y="1122480"/>
            <a:ext cx="9140040" cy="238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CustomShape 2"/>
          <p:cNvSpPr/>
          <p:nvPr/>
        </p:nvSpPr>
        <p:spPr>
          <a:xfrm>
            <a:off x="609480" y="1604520"/>
            <a:ext cx="113436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CustomShape 3"/>
          <p:cNvSpPr/>
          <p:nvPr/>
        </p:nvSpPr>
        <p:spPr>
          <a:xfrm>
            <a:off x="1803960" y="1604520"/>
            <a:ext cx="113436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CustomShape 4"/>
          <p:cNvSpPr/>
          <p:nvPr/>
        </p:nvSpPr>
        <p:spPr>
          <a:xfrm>
            <a:off x="2998440" y="1604520"/>
            <a:ext cx="113436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CustomShape 5"/>
          <p:cNvSpPr/>
          <p:nvPr/>
        </p:nvSpPr>
        <p:spPr>
          <a:xfrm>
            <a:off x="609480" y="2595240"/>
            <a:ext cx="113436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CustomShape 6"/>
          <p:cNvSpPr/>
          <p:nvPr/>
        </p:nvSpPr>
        <p:spPr>
          <a:xfrm>
            <a:off x="1803960" y="2595240"/>
            <a:ext cx="113436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7"/>
          <p:cNvSpPr/>
          <p:nvPr/>
        </p:nvSpPr>
        <p:spPr>
          <a:xfrm>
            <a:off x="2998440" y="2595240"/>
            <a:ext cx="1134360" cy="901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</TotalTime>
  <Application>LibreOffice/6.0.7.3$Linux_X86_64 LibreOffice_project/00m0$Build-3</Application>
  <Words>51</Words>
  <Paragraphs>32</Paragraphs>
  <Company>University of Leeds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2019-12-10T11:06:46Z</dcterms:created>
  <dc:creator>Eugeni Vidal Tortosa [ts16evt]</dc:creator>
  <dc:description/>
  <dc:language>en-GB</dc:language>
  <cp:lastModifiedBy/>
  <dcterms:modified xsi:type="dcterms:W3CDTF">2020-01-16T11:14:09Z</dcterms:modified>
  <cp:revision>24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University of Leeds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1</vt:i4>
  </property>
</Properties>
</file>