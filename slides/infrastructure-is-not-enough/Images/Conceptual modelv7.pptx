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ppt/_rels/presentation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4.xml.rels" ContentType="application/vnd.openxmlformats-package.relationships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entation.xml" ContentType="application/vnd.openxmlformats-officedocument.presentationml.presentation.main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_rels/slideLayout20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8.xml.rels" ContentType="application/vnd.openxmlformats-package.relationships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9.xml" ContentType="application/vnd.openxmlformats-officedocument.presentationml.slideLayout+xml"/>
  <Override PartName="/_rels/.rels" ContentType="application/vnd.openxmlformats-package.relationshi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3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4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GB" sz="1800" spc="-1" strike="noStrike">
                <a:latin typeface="Arial"/>
              </a:rPr>
              <a:t>Click to edit the title text format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</p:spPr>
        <p:txBody>
          <a:bodyPr lIns="0" rIns="0" tIns="0" bIns="0">
            <a:normAutofit fontScale="77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</p:spPr>
        <p:txBody>
          <a:bodyPr lIns="0" rIns="0" tIns="0" bIns="0">
            <a:normAutofit fontScale="77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</p:spPr>
        <p:txBody>
          <a:bodyPr lIns="0" rIns="0" tIns="0" bIns="0">
            <a:normAutofit fontScale="77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</p:spPr>
        <p:txBody>
          <a:bodyPr lIns="0" rIns="0" tIns="0" bIns="0">
            <a:normAutofit fontScale="77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ustomShape 1"/>
          <p:cNvSpPr/>
          <p:nvPr/>
        </p:nvSpPr>
        <p:spPr>
          <a:xfrm>
            <a:off x="1850400" y="4001040"/>
            <a:ext cx="2757240" cy="2478600"/>
          </a:xfrm>
          <a:prstGeom prst="rect">
            <a:avLst/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80640" rIns="80640" tIns="35640" bIns="35640" anchor="ctr">
            <a:noAutofit/>
          </a:bodyPr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    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    </a:t>
            </a:r>
            <a:r>
              <a:rPr b="1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Individuals (n = 167,178)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 </a:t>
            </a: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Gender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 </a:t>
            </a: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Age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 </a:t>
            </a: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Ethnicity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 </a:t>
            </a: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Education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 </a:t>
            </a: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Occupation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 </a:t>
            </a: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Urban/Rural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 </a:t>
            </a: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Residence level of deprivation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1600" spc="-1" strike="noStrike">
              <a:latin typeface="Arial"/>
            </a:endParaRPr>
          </a:p>
        </p:txBody>
      </p:sp>
      <p:sp>
        <p:nvSpPr>
          <p:cNvPr id="156" name="CustomShape 2"/>
          <p:cNvSpPr/>
          <p:nvPr/>
        </p:nvSpPr>
        <p:spPr>
          <a:xfrm>
            <a:off x="1850400" y="1697040"/>
            <a:ext cx="2757240" cy="1938600"/>
          </a:xfrm>
          <a:prstGeom prst="rect">
            <a:avLst/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80640" rIns="80640" tIns="35640" bIns="35640" anchor="ctr">
            <a:noAutofit/>
          </a:bodyPr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        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    </a:t>
            </a:r>
            <a:r>
              <a:rPr b="1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IMD LA areas (n = 2,931)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 </a:t>
            </a: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Cycle tracks (off-road)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 </a:t>
            </a: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Cycle lanes (on-road)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 </a:t>
            </a: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Quietness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 </a:t>
            </a: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Density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 </a:t>
            </a: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Hilliness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pc="-1" strike="noStrike">
              <a:latin typeface="Arial"/>
            </a:endParaRPr>
          </a:p>
        </p:txBody>
      </p:sp>
      <p:sp>
        <p:nvSpPr>
          <p:cNvPr id="157" name="CustomShape 3"/>
          <p:cNvSpPr/>
          <p:nvPr/>
        </p:nvSpPr>
        <p:spPr>
          <a:xfrm rot="47400">
            <a:off x="5587200" y="1226520"/>
            <a:ext cx="5009400" cy="3274200"/>
          </a:xfrm>
          <a:prstGeom prst="ellipse">
            <a:avLst/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80640" rIns="80640" tIns="35640" bIns="35640" anchor="ctr">
            <a:noAutofit/>
          </a:bodyPr>
          <a:p>
            <a:pPr>
              <a:lnSpc>
                <a:spcPct val="100000"/>
              </a:lnSpc>
            </a:pPr>
            <a:r>
              <a:rPr b="1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     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  </a:t>
            </a:r>
            <a:r>
              <a:rPr b="1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Cycling participation</a:t>
            </a:r>
            <a:endParaRPr b="0" lang="en-GB" sz="1600" spc="-1" strike="noStrike">
              <a:latin typeface="Arial"/>
            </a:endParaRPr>
          </a:p>
          <a:p>
            <a:pPr marL="216000" indent="-215640" algn="ctr">
              <a:lnSpc>
                <a:spcPct val="100000"/>
              </a:lnSpc>
              <a:buClr>
                <a:srgbClr val="000000"/>
              </a:buClr>
              <a:buSzPct val="45000"/>
              <a:buFont typeface="Symbol"/>
              <a:buChar char=""/>
            </a:pPr>
            <a:r>
              <a:rPr b="0" lang="en-GB" sz="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GB" sz="800" spc="-1" strike="noStrike">
              <a:latin typeface="Arial"/>
            </a:endParaRPr>
          </a:p>
          <a:p>
            <a:pPr marL="285840" indent="-280440">
              <a:lnSpc>
                <a:spcPct val="100000"/>
              </a:lnSpc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Any (total) cycling in the last 4 weeks</a:t>
            </a:r>
            <a:endParaRPr b="0" lang="en-GB" sz="1600" spc="-1" strike="noStrike">
              <a:latin typeface="Arial"/>
            </a:endParaRPr>
          </a:p>
          <a:p>
            <a:pPr marL="285840" indent="-280440">
              <a:lnSpc>
                <a:spcPct val="100000"/>
              </a:lnSpc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Any leisure cycling in the last 4 weeks</a:t>
            </a:r>
            <a:endParaRPr b="0" lang="en-GB" sz="1600" spc="-1" strike="noStrike">
              <a:latin typeface="Arial"/>
            </a:endParaRPr>
          </a:p>
          <a:p>
            <a:pPr marL="285840" indent="-280440">
              <a:lnSpc>
                <a:spcPct val="100000"/>
              </a:lnSpc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Any utility cycling in the last 4 weeks</a:t>
            </a:r>
            <a:endParaRPr b="0" lang="en-GB" sz="1600" spc="-1" strike="noStrike">
              <a:latin typeface="Arial"/>
            </a:endParaRPr>
          </a:p>
          <a:p>
            <a:pPr marL="285840" indent="-280440">
              <a:lnSpc>
                <a:spcPct val="100000"/>
              </a:lnSpc>
              <a:tabLst>
                <a:tab algn="l" pos="0"/>
              </a:tabLst>
            </a:pPr>
            <a:endParaRPr b="0" lang="en-GB" sz="1600" spc="-1" strike="noStrike">
              <a:latin typeface="Arial"/>
            </a:endParaRPr>
          </a:p>
          <a:p>
            <a:pPr marL="285840" indent="-280440">
              <a:lnSpc>
                <a:spcPct val="100000"/>
              </a:lnSpc>
              <a:tabLst>
                <a:tab algn="l" pos="0"/>
              </a:tabLst>
            </a:pPr>
            <a:r>
              <a:rPr b="1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  </a:t>
            </a:r>
            <a:r>
              <a:rPr b="1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Cycling duration</a:t>
            </a:r>
            <a:endParaRPr b="0" lang="en-GB" sz="1600" spc="-1" strike="noStrike">
              <a:latin typeface="Arial"/>
            </a:endParaRPr>
          </a:p>
          <a:p>
            <a:pPr marL="285840" indent="-280440">
              <a:lnSpc>
                <a:spcPct val="100000"/>
              </a:lnSpc>
              <a:tabLst>
                <a:tab algn="l" pos="0"/>
              </a:tabLst>
            </a:pPr>
            <a:endParaRPr b="0" lang="en-GB" sz="1600" spc="-1" strike="noStrike">
              <a:latin typeface="Arial"/>
            </a:endParaRPr>
          </a:p>
          <a:p>
            <a:pPr marL="285840" indent="-280440">
              <a:lnSpc>
                <a:spcPct val="100000"/>
              </a:lnSpc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Weekly minutes cycling</a:t>
            </a:r>
            <a:endParaRPr b="0" lang="en-GB" sz="1600" spc="-1" strike="noStrike">
              <a:latin typeface="Arial"/>
            </a:endParaRPr>
          </a:p>
          <a:p>
            <a:pPr marL="285840" indent="-280440">
              <a:lnSpc>
                <a:spcPct val="100000"/>
              </a:lnSpc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Weekly minutes leisure cycling</a:t>
            </a:r>
            <a:endParaRPr b="0" lang="en-GB" sz="1600" spc="-1" strike="noStrike">
              <a:latin typeface="Arial"/>
            </a:endParaRPr>
          </a:p>
          <a:p>
            <a:pPr marL="285840" indent="-280440">
              <a:lnSpc>
                <a:spcPct val="100000"/>
              </a:lnSpc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Weekly minutes utility cycling</a:t>
            </a:r>
            <a:endParaRPr b="0" lang="en-GB" sz="1600" spc="-1" strike="noStrike">
              <a:latin typeface="Arial"/>
            </a:endParaRPr>
          </a:p>
          <a:p>
            <a:pPr marL="285840" indent="-280440">
              <a:lnSpc>
                <a:spcPct val="100000"/>
              </a:lnSpc>
              <a:tabLst>
                <a:tab algn="l" pos="0"/>
              </a:tabLst>
            </a:pPr>
            <a:endParaRPr b="0" lang="en-GB" sz="1600" spc="-1" strike="noStrike">
              <a:latin typeface="Arial"/>
            </a:endParaRPr>
          </a:p>
        </p:txBody>
      </p:sp>
      <p:sp>
        <p:nvSpPr>
          <p:cNvPr id="158" name="CustomShape 4"/>
          <p:cNvSpPr/>
          <p:nvPr/>
        </p:nvSpPr>
        <p:spPr>
          <a:xfrm rot="17604600">
            <a:off x="4284000" y="4452840"/>
            <a:ext cx="1655640" cy="381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59" name="CustomShape 5"/>
          <p:cNvSpPr/>
          <p:nvPr/>
        </p:nvSpPr>
        <p:spPr>
          <a:xfrm>
            <a:off x="4608000" y="792000"/>
            <a:ext cx="1007640" cy="1007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60" name="Line 6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CustomShape 7"/>
          <p:cNvSpPr/>
          <p:nvPr/>
        </p:nvSpPr>
        <p:spPr>
          <a:xfrm>
            <a:off x="1850040" y="338760"/>
            <a:ext cx="2757600" cy="994320"/>
          </a:xfrm>
          <a:prstGeom prst="rect">
            <a:avLst/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80640" rIns="80640" tIns="35640" bIns="35640" anchor="ctr">
            <a:noAutofit/>
          </a:bodyPr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     </a:t>
            </a:r>
            <a:r>
              <a:rPr b="1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Local Authorities (n = 326)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pc="-1" strike="noStrike">
              <a:latin typeface="Arial"/>
            </a:endParaRPr>
          </a:p>
        </p:txBody>
      </p:sp>
      <p:sp>
        <p:nvSpPr>
          <p:cNvPr id="162" name="CustomShape 8"/>
          <p:cNvSpPr/>
          <p:nvPr/>
        </p:nvSpPr>
        <p:spPr>
          <a:xfrm rot="17604600">
            <a:off x="4854240" y="2487240"/>
            <a:ext cx="307800" cy="731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63" name="CustomShape 9"/>
          <p:cNvSpPr/>
          <p:nvPr/>
        </p:nvSpPr>
        <p:spPr>
          <a:xfrm flipV="1" rot="16200600">
            <a:off x="3295080" y="1512000"/>
            <a:ext cx="363240" cy="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64" name="CustomShape 10"/>
          <p:cNvSpPr/>
          <p:nvPr/>
        </p:nvSpPr>
        <p:spPr>
          <a:xfrm flipV="1" rot="16200600">
            <a:off x="3295080" y="3816000"/>
            <a:ext cx="363240" cy="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CustomShape 1"/>
          <p:cNvSpPr/>
          <p:nvPr/>
        </p:nvSpPr>
        <p:spPr>
          <a:xfrm>
            <a:off x="1523880" y="1122480"/>
            <a:ext cx="9138600" cy="238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CustomShape 2"/>
          <p:cNvSpPr/>
          <p:nvPr/>
        </p:nvSpPr>
        <p:spPr>
          <a:xfrm>
            <a:off x="609480" y="1604520"/>
            <a:ext cx="3528360" cy="18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CustomShape 3"/>
          <p:cNvSpPr/>
          <p:nvPr/>
        </p:nvSpPr>
        <p:spPr>
          <a:xfrm>
            <a:off x="4319640" y="1604520"/>
            <a:ext cx="3528360" cy="18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CustomShape 4"/>
          <p:cNvSpPr/>
          <p:nvPr/>
        </p:nvSpPr>
        <p:spPr>
          <a:xfrm>
            <a:off x="8029800" y="1604520"/>
            <a:ext cx="3528360" cy="18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CustomShape 5"/>
          <p:cNvSpPr/>
          <p:nvPr/>
        </p:nvSpPr>
        <p:spPr>
          <a:xfrm>
            <a:off x="609480" y="3682080"/>
            <a:ext cx="3528360" cy="18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CustomShape 6"/>
          <p:cNvSpPr/>
          <p:nvPr/>
        </p:nvSpPr>
        <p:spPr>
          <a:xfrm>
            <a:off x="4319640" y="3682080"/>
            <a:ext cx="3528360" cy="18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CustomShape 7"/>
          <p:cNvSpPr/>
          <p:nvPr/>
        </p:nvSpPr>
        <p:spPr>
          <a:xfrm>
            <a:off x="8029800" y="3682080"/>
            <a:ext cx="3528360" cy="18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CustomShape 1"/>
          <p:cNvSpPr/>
          <p:nvPr/>
        </p:nvSpPr>
        <p:spPr>
          <a:xfrm>
            <a:off x="1523880" y="1122480"/>
            <a:ext cx="9138600" cy="238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CustomShape 2"/>
          <p:cNvSpPr/>
          <p:nvPr/>
        </p:nvSpPr>
        <p:spPr>
          <a:xfrm>
            <a:off x="609480" y="1604520"/>
            <a:ext cx="171936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CustomShape 3"/>
          <p:cNvSpPr/>
          <p:nvPr/>
        </p:nvSpPr>
        <p:spPr>
          <a:xfrm>
            <a:off x="2419560" y="1604520"/>
            <a:ext cx="171936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CustomShape 4"/>
          <p:cNvSpPr/>
          <p:nvPr/>
        </p:nvSpPr>
        <p:spPr>
          <a:xfrm>
            <a:off x="609480" y="2595240"/>
            <a:ext cx="171936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CustomShape 5"/>
          <p:cNvSpPr/>
          <p:nvPr/>
        </p:nvSpPr>
        <p:spPr>
          <a:xfrm>
            <a:off x="2419560" y="2595240"/>
            <a:ext cx="171936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ustomShape 1"/>
          <p:cNvSpPr/>
          <p:nvPr/>
        </p:nvSpPr>
        <p:spPr>
          <a:xfrm>
            <a:off x="1523880" y="1122480"/>
            <a:ext cx="9138600" cy="238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CustomShape 2"/>
          <p:cNvSpPr/>
          <p:nvPr/>
        </p:nvSpPr>
        <p:spPr>
          <a:xfrm>
            <a:off x="609480" y="1604520"/>
            <a:ext cx="113292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CustomShape 3"/>
          <p:cNvSpPr/>
          <p:nvPr/>
        </p:nvSpPr>
        <p:spPr>
          <a:xfrm>
            <a:off x="1803960" y="1604520"/>
            <a:ext cx="113292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CustomShape 4"/>
          <p:cNvSpPr/>
          <p:nvPr/>
        </p:nvSpPr>
        <p:spPr>
          <a:xfrm>
            <a:off x="2998440" y="1604520"/>
            <a:ext cx="113292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CustomShape 5"/>
          <p:cNvSpPr/>
          <p:nvPr/>
        </p:nvSpPr>
        <p:spPr>
          <a:xfrm>
            <a:off x="609480" y="2595240"/>
            <a:ext cx="113292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CustomShape 6"/>
          <p:cNvSpPr/>
          <p:nvPr/>
        </p:nvSpPr>
        <p:spPr>
          <a:xfrm>
            <a:off x="1803960" y="2595240"/>
            <a:ext cx="113292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CustomShape 7"/>
          <p:cNvSpPr/>
          <p:nvPr/>
        </p:nvSpPr>
        <p:spPr>
          <a:xfrm>
            <a:off x="2998440" y="2595240"/>
            <a:ext cx="113292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</TotalTime>
  <Application>LibreOffice/7.1.3.2$Linux_X86_64 LibreOffice_project/10$Build-2</Application>
  <AppVersion>15.0000</AppVersion>
  <Words>51</Words>
  <Paragraphs>32</Paragraphs>
  <Company>University of Leeds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2019-12-10T11:06:46Z</dcterms:created>
  <dc:creator>Eugeni Vidal Tortosa [ts16evt]</dc:creator>
  <dc:description/>
  <dc:language>en-GB</dc:language>
  <cp:lastModifiedBy/>
  <dcterms:modified xsi:type="dcterms:W3CDTF">2021-06-24T10:31:00Z</dcterms:modified>
  <cp:revision>26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LinksUpToDate">
    <vt:bool>0</vt:bool>
  </property>
  <property fmtid="{D5CDD505-2E9C-101B-9397-08002B2CF9AE}" pid="5" name="MMClips">
    <vt:i4>0</vt:i4>
  </property>
  <property fmtid="{D5CDD505-2E9C-101B-9397-08002B2CF9AE}" pid="6" name="Notes">
    <vt:i4>0</vt:i4>
  </property>
  <property fmtid="{D5CDD505-2E9C-101B-9397-08002B2CF9AE}" pid="7" name="PresentationFormat">
    <vt:lpwstr>Widescreen</vt:lpwstr>
  </property>
  <property fmtid="{D5CDD505-2E9C-101B-9397-08002B2CF9AE}" pid="8" name="ScaleCrop">
    <vt:bool>0</vt:bool>
  </property>
  <property fmtid="{D5CDD505-2E9C-101B-9397-08002B2CF9AE}" pid="9" name="ShareDoc">
    <vt:bool>0</vt:bool>
  </property>
  <property fmtid="{D5CDD505-2E9C-101B-9397-08002B2CF9AE}" pid="10" name="Slides">
    <vt:i4>1</vt:i4>
  </property>
</Properties>
</file>