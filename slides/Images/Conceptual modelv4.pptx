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_rels/slideLayout45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</p:sldIdLst>
  <p:sldSz cx="12192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6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2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3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4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GB" sz="4400" spc="-1" strike="noStrike">
                <a:latin typeface="Arial"/>
              </a:rPr>
              <a:t>Click to edit the title text format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latin typeface="Arial"/>
              </a:rPr>
              <a:t>Click to edit the outline text format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latin typeface="Arial"/>
              </a:rPr>
              <a:t>Second Outline Level</a:t>
            </a:r>
            <a:endParaRPr b="0" lang="en-GB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latin typeface="Arial"/>
              </a:rPr>
              <a:t>Third Outline Level</a:t>
            </a:r>
            <a:endParaRPr b="0" lang="en-GB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latin typeface="Arial"/>
              </a:rPr>
              <a:t>Fourth Outline Level</a:t>
            </a:r>
            <a:endParaRPr b="0" lang="en-GB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Fifth Outline Level</a:t>
            </a:r>
            <a:endParaRPr b="0" lang="en-GB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Sixth Outline Level</a:t>
            </a:r>
            <a:endParaRPr b="0" lang="en-GB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Seventh Outline Level</a:t>
            </a:r>
            <a:endParaRPr b="0" lang="en-GB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GB" sz="4400" spc="-1" strike="noStrike">
                <a:latin typeface="Arial"/>
              </a:rPr>
              <a:t>Click to edit the title text format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latin typeface="Arial"/>
              </a:rPr>
              <a:t>Click to edit the outline text format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latin typeface="Arial"/>
              </a:rPr>
              <a:t>Second Outline Level</a:t>
            </a:r>
            <a:endParaRPr b="0" lang="en-GB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latin typeface="Arial"/>
              </a:rPr>
              <a:t>Third Outline Level</a:t>
            </a:r>
            <a:endParaRPr b="0" lang="en-GB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latin typeface="Arial"/>
              </a:rPr>
              <a:t>Fourth Outline Level</a:t>
            </a:r>
            <a:endParaRPr b="0" lang="en-GB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Fifth Outline Level</a:t>
            </a:r>
            <a:endParaRPr b="0" lang="en-GB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Sixth Outline Level</a:t>
            </a:r>
            <a:endParaRPr b="0" lang="en-GB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Seventh Outline Level</a:t>
            </a:r>
            <a:endParaRPr b="0" lang="en-GB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en-GB" sz="1800" spc="-1" strike="noStrike">
                <a:latin typeface="Arial"/>
              </a:rPr>
              <a:t>Click to edit the title text format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GB" sz="4400" spc="-1" strike="noStrike">
                <a:latin typeface="Arial"/>
              </a:rPr>
              <a:t>Click to edit the title text format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latin typeface="Arial"/>
              </a:rPr>
              <a:t>Click to edit the outline text format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latin typeface="Arial"/>
              </a:rPr>
              <a:t>Second Outline Level</a:t>
            </a:r>
            <a:endParaRPr b="0" lang="en-GB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latin typeface="Arial"/>
              </a:rPr>
              <a:t>Third Outline Level</a:t>
            </a:r>
            <a:endParaRPr b="0" lang="en-GB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latin typeface="Arial"/>
              </a:rPr>
              <a:t>Fourth Outline Level</a:t>
            </a:r>
            <a:endParaRPr b="0" lang="en-GB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Fifth Outline Level</a:t>
            </a:r>
            <a:endParaRPr b="0" lang="en-GB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Sixth Outline Level</a:t>
            </a:r>
            <a:endParaRPr b="0" lang="en-GB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Seventh Outline Level</a:t>
            </a:r>
            <a:endParaRPr b="0" lang="en-GB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CustomShape 1"/>
          <p:cNvSpPr/>
          <p:nvPr/>
        </p:nvSpPr>
        <p:spPr>
          <a:xfrm>
            <a:off x="1296000" y="4248000"/>
            <a:ext cx="2810880" cy="2160000"/>
          </a:xfrm>
          <a:prstGeom prst="rect">
            <a:avLst/>
          </a:prstGeom>
          <a:ln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GB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Individuals (n = 167,178)</a:t>
            </a:r>
            <a:endParaRPr b="0" lang="en-GB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200" spc="-1" strike="noStrike">
              <a:latin typeface="Arial"/>
            </a:endParaRPr>
          </a:p>
          <a:p>
            <a:pPr marL="285840" indent="-28368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Gender</a:t>
            </a:r>
            <a:endParaRPr b="0" lang="en-GB" sz="1200" spc="-1" strike="noStrike">
              <a:latin typeface="Arial"/>
            </a:endParaRPr>
          </a:p>
          <a:p>
            <a:pPr marL="285840" indent="-28368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Age</a:t>
            </a:r>
            <a:endParaRPr b="0" lang="en-GB" sz="1200" spc="-1" strike="noStrike">
              <a:latin typeface="Arial"/>
            </a:endParaRPr>
          </a:p>
          <a:p>
            <a:pPr marL="285840" indent="-28368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Ethnicity</a:t>
            </a:r>
            <a:endParaRPr b="0" lang="en-GB" sz="1200" spc="-1" strike="noStrike">
              <a:latin typeface="Arial"/>
            </a:endParaRPr>
          </a:p>
          <a:p>
            <a:pPr marL="285840" indent="-28368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Education</a:t>
            </a:r>
            <a:endParaRPr b="0" lang="en-GB" sz="1200" spc="-1" strike="noStrike">
              <a:latin typeface="Arial"/>
            </a:endParaRPr>
          </a:p>
          <a:p>
            <a:pPr marL="285840" indent="-28368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Occupation</a:t>
            </a:r>
            <a:endParaRPr b="0" lang="en-GB" sz="1200" spc="-1" strike="noStrike">
              <a:latin typeface="Arial"/>
            </a:endParaRPr>
          </a:p>
          <a:p>
            <a:pPr marL="285840" indent="-28368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Urban/Rural</a:t>
            </a:r>
            <a:endParaRPr b="0" lang="en-GB" sz="1200" spc="-1" strike="noStrike">
              <a:latin typeface="Arial"/>
            </a:endParaRPr>
          </a:p>
          <a:p>
            <a:pPr marL="285840" indent="-28368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Residence level of deprivation</a:t>
            </a:r>
            <a:endParaRPr b="0" lang="en-GB" sz="1200" spc="-1" strike="noStrike">
              <a:latin typeface="Arial"/>
            </a:endParaRPr>
          </a:p>
          <a:p>
            <a:pPr marL="285840" indent="-28368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endParaRPr b="0" lang="en-GB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GB" sz="1200" spc="-1" strike="noStrike">
              <a:latin typeface="Arial"/>
            </a:endParaRPr>
          </a:p>
        </p:txBody>
      </p:sp>
      <p:sp>
        <p:nvSpPr>
          <p:cNvPr id="156" name="CustomShape 2"/>
          <p:cNvSpPr/>
          <p:nvPr/>
        </p:nvSpPr>
        <p:spPr>
          <a:xfrm>
            <a:off x="1296000" y="2088000"/>
            <a:ext cx="2806200" cy="1728000"/>
          </a:xfrm>
          <a:prstGeom prst="rect">
            <a:avLst/>
          </a:prstGeom>
          <a:ln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GB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IMD LA areas (n = 2,931)</a:t>
            </a:r>
            <a:endParaRPr b="0" lang="en-GB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200" spc="-1" strike="noStrike">
              <a:latin typeface="Arial"/>
            </a:endParaRPr>
          </a:p>
          <a:p>
            <a:pPr marL="285840" indent="-28368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Cycle tracks (off-road)</a:t>
            </a:r>
            <a:endParaRPr b="0" lang="en-GB" sz="1200" spc="-1" strike="noStrike">
              <a:latin typeface="Arial"/>
            </a:endParaRPr>
          </a:p>
          <a:p>
            <a:pPr marL="285840" indent="-28368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Cycle lanes (on-road)</a:t>
            </a:r>
            <a:endParaRPr b="0" lang="en-GB" sz="1200" spc="-1" strike="noStrike">
              <a:latin typeface="Arial"/>
            </a:endParaRPr>
          </a:p>
          <a:p>
            <a:pPr marL="285840" indent="-28368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Quietness</a:t>
            </a:r>
            <a:endParaRPr b="0" lang="en-GB" sz="1200" spc="-1" strike="noStrike">
              <a:latin typeface="Arial"/>
            </a:endParaRPr>
          </a:p>
          <a:p>
            <a:pPr marL="285840" indent="-28368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Density</a:t>
            </a:r>
            <a:endParaRPr b="0" lang="en-GB" sz="1200" spc="-1" strike="noStrike">
              <a:latin typeface="Arial"/>
            </a:endParaRPr>
          </a:p>
          <a:p>
            <a:pPr marL="285840" indent="-28368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Hilliness</a:t>
            </a:r>
            <a:endParaRPr b="0" lang="en-GB" sz="1200" spc="-1" strike="noStrike">
              <a:latin typeface="Arial"/>
            </a:endParaRPr>
          </a:p>
          <a:p>
            <a:pPr marL="285840" indent="-28368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endParaRPr b="0" lang="en-GB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200" spc="-1" strike="noStrike">
              <a:latin typeface="Arial"/>
            </a:endParaRPr>
          </a:p>
        </p:txBody>
      </p:sp>
      <p:sp>
        <p:nvSpPr>
          <p:cNvPr id="157" name="CustomShape 3"/>
          <p:cNvSpPr/>
          <p:nvPr/>
        </p:nvSpPr>
        <p:spPr>
          <a:xfrm>
            <a:off x="5616000" y="1963440"/>
            <a:ext cx="4535280" cy="1995840"/>
          </a:xfrm>
          <a:prstGeom prst="ellipse">
            <a:avLst/>
          </a:prstGeom>
          <a:ln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GB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Cycling participation:</a:t>
            </a:r>
            <a:endParaRPr b="0" lang="en-GB" sz="1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GB" sz="1200" spc="-1" strike="noStrike">
              <a:latin typeface="Arial"/>
            </a:endParaRPr>
          </a:p>
          <a:p>
            <a:pPr marL="285840" indent="-28368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Any cycling in past 4 weeks</a:t>
            </a:r>
            <a:endParaRPr b="0" lang="en-GB" sz="1200" spc="-1" strike="noStrike">
              <a:latin typeface="Arial"/>
            </a:endParaRPr>
          </a:p>
          <a:p>
            <a:pPr marL="285840" indent="-28368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Any leisure cycling in past 4 weeks</a:t>
            </a:r>
            <a:endParaRPr b="0" lang="en-GB" sz="1200" spc="-1" strike="noStrike">
              <a:latin typeface="Arial"/>
            </a:endParaRPr>
          </a:p>
          <a:p>
            <a:pPr marL="285840" indent="-28368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Any utility cycling in past 4 weeks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158" name="CustomShape 4"/>
          <p:cNvSpPr/>
          <p:nvPr/>
        </p:nvSpPr>
        <p:spPr>
          <a:xfrm rot="17604600">
            <a:off x="3659040" y="4209840"/>
            <a:ext cx="2259360" cy="508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len="med" type="triangle" w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159" name="CustomShape 5"/>
          <p:cNvSpPr/>
          <p:nvPr/>
        </p:nvSpPr>
        <p:spPr>
          <a:xfrm>
            <a:off x="4102560" y="1152000"/>
            <a:ext cx="1368720" cy="1151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len="med" type="triangle" w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160" name="Line 6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CustomShape 7"/>
          <p:cNvSpPr/>
          <p:nvPr/>
        </p:nvSpPr>
        <p:spPr>
          <a:xfrm>
            <a:off x="1295640" y="657720"/>
            <a:ext cx="2806200" cy="997560"/>
          </a:xfrm>
          <a:prstGeom prst="rect">
            <a:avLst/>
          </a:prstGeom>
          <a:ln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GB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Local Authorities (n = 326)</a:t>
            </a:r>
            <a:endParaRPr b="0" lang="en-GB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200" spc="-1" strike="noStrike">
              <a:latin typeface="Arial"/>
            </a:endParaRPr>
          </a:p>
        </p:txBody>
      </p:sp>
      <p:sp>
        <p:nvSpPr>
          <p:cNvPr id="162" name="CustomShape 8"/>
          <p:cNvSpPr/>
          <p:nvPr/>
        </p:nvSpPr>
        <p:spPr>
          <a:xfrm rot="17604600">
            <a:off x="4418280" y="2428560"/>
            <a:ext cx="447480" cy="983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len="med" type="triangle" w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163" name="CustomShape 9"/>
          <p:cNvSpPr/>
          <p:nvPr/>
        </p:nvSpPr>
        <p:spPr>
          <a:xfrm flipV="1" rot="16200600">
            <a:off x="2485440" y="1906560"/>
            <a:ext cx="366480" cy="7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len="med" type="triangle" w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164" name="CustomShape 10"/>
          <p:cNvSpPr/>
          <p:nvPr/>
        </p:nvSpPr>
        <p:spPr>
          <a:xfrm flipV="1" rot="16200600">
            <a:off x="2476800" y="4066560"/>
            <a:ext cx="366480" cy="7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len="med" type="triangle" w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CustomShape 1"/>
          <p:cNvSpPr/>
          <p:nvPr/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CustomShape 2"/>
          <p:cNvSpPr/>
          <p:nvPr/>
        </p:nvSpPr>
        <p:spPr>
          <a:xfrm>
            <a:off x="609480" y="1604520"/>
            <a:ext cx="3531600" cy="189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CustomShape 3"/>
          <p:cNvSpPr/>
          <p:nvPr/>
        </p:nvSpPr>
        <p:spPr>
          <a:xfrm>
            <a:off x="4319640" y="1604520"/>
            <a:ext cx="3531600" cy="189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CustomShape 4"/>
          <p:cNvSpPr/>
          <p:nvPr/>
        </p:nvSpPr>
        <p:spPr>
          <a:xfrm>
            <a:off x="8029800" y="1604520"/>
            <a:ext cx="3531600" cy="189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CustomShape 5"/>
          <p:cNvSpPr/>
          <p:nvPr/>
        </p:nvSpPr>
        <p:spPr>
          <a:xfrm>
            <a:off x="609480" y="3682080"/>
            <a:ext cx="3531600" cy="189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CustomShape 6"/>
          <p:cNvSpPr/>
          <p:nvPr/>
        </p:nvSpPr>
        <p:spPr>
          <a:xfrm>
            <a:off x="4319640" y="3682080"/>
            <a:ext cx="3531600" cy="189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CustomShape 7"/>
          <p:cNvSpPr/>
          <p:nvPr/>
        </p:nvSpPr>
        <p:spPr>
          <a:xfrm>
            <a:off x="8029800" y="3682080"/>
            <a:ext cx="3531600" cy="189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CustomShape 1"/>
          <p:cNvSpPr/>
          <p:nvPr/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CustomShape 2"/>
          <p:cNvSpPr/>
          <p:nvPr/>
        </p:nvSpPr>
        <p:spPr>
          <a:xfrm>
            <a:off x="609480" y="1604520"/>
            <a:ext cx="1722600" cy="903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CustomShape 3"/>
          <p:cNvSpPr/>
          <p:nvPr/>
        </p:nvSpPr>
        <p:spPr>
          <a:xfrm>
            <a:off x="2419560" y="1604520"/>
            <a:ext cx="1722600" cy="903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CustomShape 4"/>
          <p:cNvSpPr/>
          <p:nvPr/>
        </p:nvSpPr>
        <p:spPr>
          <a:xfrm>
            <a:off x="609480" y="2595240"/>
            <a:ext cx="1722600" cy="903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CustomShape 5"/>
          <p:cNvSpPr/>
          <p:nvPr/>
        </p:nvSpPr>
        <p:spPr>
          <a:xfrm>
            <a:off x="2419560" y="2595240"/>
            <a:ext cx="1722600" cy="903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CustomShape 1"/>
          <p:cNvSpPr/>
          <p:nvPr/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CustomShape 2"/>
          <p:cNvSpPr/>
          <p:nvPr/>
        </p:nvSpPr>
        <p:spPr>
          <a:xfrm>
            <a:off x="609480" y="1604520"/>
            <a:ext cx="1136160" cy="903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CustomShape 3"/>
          <p:cNvSpPr/>
          <p:nvPr/>
        </p:nvSpPr>
        <p:spPr>
          <a:xfrm>
            <a:off x="1803960" y="1604520"/>
            <a:ext cx="1136160" cy="903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CustomShape 4"/>
          <p:cNvSpPr/>
          <p:nvPr/>
        </p:nvSpPr>
        <p:spPr>
          <a:xfrm>
            <a:off x="2998440" y="1604520"/>
            <a:ext cx="1136160" cy="903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CustomShape 5"/>
          <p:cNvSpPr/>
          <p:nvPr/>
        </p:nvSpPr>
        <p:spPr>
          <a:xfrm>
            <a:off x="609480" y="2595240"/>
            <a:ext cx="1136160" cy="903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CustomShape 6"/>
          <p:cNvSpPr/>
          <p:nvPr/>
        </p:nvSpPr>
        <p:spPr>
          <a:xfrm>
            <a:off x="1803960" y="2595240"/>
            <a:ext cx="1136160" cy="903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CustomShape 7"/>
          <p:cNvSpPr/>
          <p:nvPr/>
        </p:nvSpPr>
        <p:spPr>
          <a:xfrm>
            <a:off x="2998440" y="2595240"/>
            <a:ext cx="1136160" cy="903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</TotalTime>
  <Application>LibreOffice/6.0.7.3$Linux_X86_64 LibreOffice_project/00m0$Build-3</Application>
  <Words>51</Words>
  <Paragraphs>32</Paragraphs>
  <Company>University of Leeds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2019-12-10T11:06:46Z</dcterms:created>
  <dc:creator>Eugeni Vidal Tortosa [ts16evt]</dc:creator>
  <dc:description/>
  <dc:language>en-GB</dc:language>
  <cp:lastModifiedBy/>
  <dcterms:modified xsi:type="dcterms:W3CDTF">2019-12-23T18:17:50Z</dcterms:modified>
  <cp:revision>16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University of Leeds</vt:lpwstr>
  </property>
  <property fmtid="{D5CDD505-2E9C-101B-9397-08002B2CF9AE}" pid="4" name="HiddenSlides">
    <vt:i4>0</vt:i4>
  </property>
  <property fmtid="{D5CDD505-2E9C-101B-9397-08002B2CF9AE}" pid="5" name="HyperlinksChanged">
    <vt:bool>0</vt:bool>
  </property>
  <property fmtid="{D5CDD505-2E9C-101B-9397-08002B2CF9AE}" pid="6" name="LinksUpToDate">
    <vt:bool>0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Widescreen</vt:lpwstr>
  </property>
  <property fmtid="{D5CDD505-2E9C-101B-9397-08002B2CF9AE}" pid="10" name="ScaleCrop">
    <vt:bool>0</vt:bool>
  </property>
  <property fmtid="{D5CDD505-2E9C-101B-9397-08002B2CF9AE}" pid="11" name="ShareDoc">
    <vt:bool>0</vt:bool>
  </property>
  <property fmtid="{D5CDD505-2E9C-101B-9397-08002B2CF9AE}" pid="12" name="Slides">
    <vt:i4>1</vt:i4>
  </property>
</Properties>
</file>